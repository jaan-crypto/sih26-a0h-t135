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C4A"/>
    <a:srgbClr val="009999"/>
    <a:srgbClr val="323232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9:00:16.3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9:00:27.2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3.pn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evfolio.co/" TargetMode="External"/><Relationship Id="rId3" Type="http://schemas.openxmlformats.org/officeDocument/2006/relationships/hyperlink" Target="https://www.ayush.gov.in/" TargetMode="External"/><Relationship Id="rId7" Type="http://schemas.openxmlformats.org/officeDocument/2006/relationships/hyperlink" Target="https://maps.google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ternshala.com/" TargetMode="External"/><Relationship Id="rId11" Type="http://schemas.openxmlformats.org/officeDocument/2006/relationships/image" Target="../media/image16.png"/><Relationship Id="rId5" Type="http://schemas.openxmlformats.org/officeDocument/2006/relationships/hyperlink" Target="https://internship.aicte-india.org/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www.linkedin.com/jobs/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34226" y="175260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143368" y="739734"/>
            <a:ext cx="4390234" cy="230293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DRIFT</a:t>
            </a:r>
            <a:r>
              <a:rPr lang="en-US" b="1" dirty="0">
                <a:solidFill>
                  <a:schemeClr val="tx1"/>
                </a:solidFill>
                <a:latin typeface="Algerian" panose="04020705040A02060702" pitchFamily="82" charset="0"/>
                <a:ea typeface="Verdana" panose="020B0604030504040204" pitchFamily="34" charset="0"/>
                <a:cs typeface="Times New Roman" panose="02020603050405020304" pitchFamily="18" charset="0"/>
              </a:rPr>
              <a:t>-                      </a:t>
            </a:r>
            <a:r>
              <a:rPr lang="en-US" b="1" dirty="0">
                <a:solidFill>
                  <a:srgbClr val="009C4A"/>
                </a:solidFill>
                <a:latin typeface="Bahnschrift SemiCondensed" panose="020B0502040204020203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Don’t wander, Arrive!</a:t>
            </a:r>
            <a:endParaRPr lang="en-IN" b="1" dirty="0">
              <a:solidFill>
                <a:srgbClr val="009C4A"/>
              </a:solidFill>
              <a:latin typeface="Bahnschrift SemiCondensed" panose="020B0502040204020203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-75026" y="-37050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Franklin Gothic Demi Cond" panose="020B0706030402020204" pitchFamily="34" charset="0"/>
              </a:rPr>
              <a:t>SMART INDIA </a:t>
            </a:r>
            <a:r>
              <a:rPr lang="en-US" sz="4000" b="1" dirty="0">
                <a:solidFill>
                  <a:srgbClr val="009C4A"/>
                </a:solidFill>
                <a:latin typeface="Franklin Gothic Demi Cond" panose="020B0706030402020204" pitchFamily="34" charset="0"/>
              </a:rPr>
              <a:t>HACKATHON</a:t>
            </a:r>
            <a:r>
              <a:rPr lang="en-US" sz="4000" b="1" dirty="0">
                <a:solidFill>
                  <a:schemeClr val="tx2"/>
                </a:solidFill>
                <a:latin typeface="Franklin Gothic Demi Cond" panose="020B0706030402020204" pitchFamily="34" charset="0"/>
              </a:rPr>
              <a:t> 2026</a:t>
            </a:r>
            <a:endParaRPr lang="en-IN" sz="4000" b="1" dirty="0">
              <a:solidFill>
                <a:schemeClr val="tx2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764714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- 26044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Portal for Academia : Industry Collaboration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ID: SIH26-A0H-T135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 - Tech Titans</a:t>
            </a:r>
            <a:endParaRPr lang="en-IN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BB27B0-E935-9205-A335-82D7EEF97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82" y="1009675"/>
            <a:ext cx="1540718" cy="154071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0356AE-C549-DB9B-2128-931F817BCD73}"/>
              </a:ext>
            </a:extLst>
          </p:cNvPr>
          <p:cNvCxnSpPr/>
          <p:nvPr/>
        </p:nvCxnSpPr>
        <p:spPr>
          <a:xfrm flipV="1">
            <a:off x="0" y="0"/>
            <a:ext cx="1245686" cy="1296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4AF1851-AF80-2224-A606-0FC2C0677CC6}"/>
                  </a:ext>
                </a:extLst>
              </p14:cNvPr>
              <p14:cNvContentPartPr/>
              <p14:nvPr/>
            </p14:nvContentPartPr>
            <p14:xfrm>
              <a:off x="-11579" y="9374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4AF1851-AF80-2224-A606-0FC2C0677C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7699" y="93131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FD4E99A-C9D2-458E-5186-267CEC5221AD}"/>
                  </a:ext>
                </a:extLst>
              </p14:cNvPr>
              <p14:cNvContentPartPr/>
              <p14:nvPr/>
            </p14:nvContentPartPr>
            <p14:xfrm>
              <a:off x="589981" y="671031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FD4E99A-C9D2-458E-5186-267CEC5221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861" y="66491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4A9A1A2F-E7B2-B5EE-8E3B-5B58F5236089}"/>
              </a:ext>
            </a:extLst>
          </p:cNvPr>
          <p:cNvSpPr/>
          <p:nvPr/>
        </p:nvSpPr>
        <p:spPr>
          <a:xfrm flipV="1">
            <a:off x="-11579" y="-7526"/>
            <a:ext cx="1716985" cy="153244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AEA62620-37B1-E7F2-6601-27393EB47820}"/>
              </a:ext>
            </a:extLst>
          </p:cNvPr>
          <p:cNvSpPr/>
          <p:nvPr/>
        </p:nvSpPr>
        <p:spPr>
          <a:xfrm flipH="1">
            <a:off x="7341695" y="3465719"/>
            <a:ext cx="4850305" cy="3390782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FC487-85A9-E944-639C-96932BDC7C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1262" y="1005307"/>
            <a:ext cx="2115413" cy="14945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82577" y="256268"/>
            <a:ext cx="10573492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009C4A"/>
                </a:solidFill>
                <a:latin typeface="Franklin Gothic Demi" panose="020B0703020102020204" pitchFamily="34" charset="0"/>
                <a:ea typeface="ＭＳ Ｐゴシック" pitchFamily="1" charset="-128"/>
                <a:cs typeface="Times New Roman" panose="02020603050405020304" pitchFamily="18" charset="0"/>
              </a:rPr>
              <a:t>Drift </a:t>
            </a:r>
            <a:r>
              <a:rPr lang="en-US" sz="3200" b="1" dirty="0">
                <a:solidFill>
                  <a:srgbClr val="002060"/>
                </a:solidFill>
                <a:latin typeface="Franklin Gothic Demi" panose="020B0703020102020204" pitchFamily="34" charset="0"/>
                <a:ea typeface="ＭＳ Ｐゴシック" pitchFamily="1" charset="-128"/>
                <a:cs typeface="Times New Roman" panose="02020603050405020304" pitchFamily="18" charset="0"/>
              </a:rPr>
              <a:t>- </a:t>
            </a:r>
            <a:r>
              <a:rPr lang="en-IN" sz="3200" b="1" dirty="0">
                <a:solidFill>
                  <a:srgbClr val="002060"/>
                </a:solidFill>
                <a:latin typeface="Franklin Gothic Demi" panose="020B0703020102020204" pitchFamily="34" charset="0"/>
              </a:rPr>
              <a:t>"One platform. Every student's next step."</a:t>
            </a:r>
            <a:br>
              <a:rPr lang="en-IN" sz="3200" dirty="0">
                <a:solidFill>
                  <a:srgbClr val="002060"/>
                </a:solidFill>
                <a:latin typeface="Franklin Gothic Demi" panose="020B0703020102020204" pitchFamily="34" charset="0"/>
              </a:rPr>
            </a:br>
            <a:endParaRPr lang="en-US" sz="3200" b="1" dirty="0">
              <a:solidFill>
                <a:srgbClr val="002060"/>
              </a:solidFill>
              <a:latin typeface="Franklin Gothic Demi" panose="020B0703020102020204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,bn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A81F5F-CB90-46A0-9E89-E866AFF88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8804" y="-111475"/>
            <a:ext cx="1924314" cy="1359570"/>
          </a:xfrm>
          <a:prstGeom prst="rect">
            <a:avLst/>
          </a:prstGeom>
        </p:spPr>
      </p:pic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7CBC445B-C491-DB85-E519-2756E4D52FD9}"/>
              </a:ext>
            </a:extLst>
          </p:cNvPr>
          <p:cNvSpPr/>
          <p:nvPr/>
        </p:nvSpPr>
        <p:spPr>
          <a:xfrm flipH="1">
            <a:off x="7341695" y="3465719"/>
            <a:ext cx="4850305" cy="3390782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7F853-E282-D821-C372-43578F1DF14C}"/>
              </a:ext>
            </a:extLst>
          </p:cNvPr>
          <p:cNvSpPr txBox="1"/>
          <p:nvPr/>
        </p:nvSpPr>
        <p:spPr>
          <a:xfrm>
            <a:off x="1995765" y="62712"/>
            <a:ext cx="738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PROPOSED SOLUTION</a:t>
            </a:r>
            <a:endParaRPr lang="en-IN" sz="3600" b="1" dirty="0">
              <a:solidFill>
                <a:srgbClr val="00206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10CDAF-D186-CF75-65A5-CF957FC73C17}"/>
              </a:ext>
            </a:extLst>
          </p:cNvPr>
          <p:cNvSpPr/>
          <p:nvPr/>
        </p:nvSpPr>
        <p:spPr>
          <a:xfrm>
            <a:off x="282577" y="1673651"/>
            <a:ext cx="2401914" cy="504782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0F82B2-6B63-BA6E-0557-F8EA22D178D7}"/>
              </a:ext>
            </a:extLst>
          </p:cNvPr>
          <p:cNvSpPr/>
          <p:nvPr/>
        </p:nvSpPr>
        <p:spPr>
          <a:xfrm>
            <a:off x="2981934" y="3204948"/>
            <a:ext cx="5957864" cy="35165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9C4A"/>
              </a:solidFill>
              <a:latin typeface="Bernard MT Condensed" panose="020508060609050204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CFF176-AC88-B72D-3961-51994A80E661}"/>
              </a:ext>
            </a:extLst>
          </p:cNvPr>
          <p:cNvSpPr/>
          <p:nvPr/>
        </p:nvSpPr>
        <p:spPr>
          <a:xfrm>
            <a:off x="9223942" y="1673651"/>
            <a:ext cx="2488557" cy="504782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31A336D-46B6-983B-5B88-F09100D2C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965" y="1452958"/>
            <a:ext cx="1540718" cy="154071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2793FC7-D10F-E9F1-574E-8E918C10287C}"/>
              </a:ext>
            </a:extLst>
          </p:cNvPr>
          <p:cNvSpPr txBox="1"/>
          <p:nvPr/>
        </p:nvSpPr>
        <p:spPr>
          <a:xfrm>
            <a:off x="515837" y="1928242"/>
            <a:ext cx="1935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9C4A"/>
                </a:solidFill>
                <a:latin typeface="Bernard MT Condensed" panose="02050806060905020404" pitchFamily="18" charset="0"/>
              </a:rPr>
              <a:t>Problem at hand</a:t>
            </a:r>
            <a:endParaRPr lang="en-IN" sz="2000" dirty="0">
              <a:solidFill>
                <a:srgbClr val="009C4A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C5D88A-D0BF-D679-23C8-6E4ABBEF1EDB}"/>
              </a:ext>
            </a:extLst>
          </p:cNvPr>
          <p:cNvSpPr txBox="1"/>
          <p:nvPr/>
        </p:nvSpPr>
        <p:spPr>
          <a:xfrm>
            <a:off x="3283127" y="3351367"/>
            <a:ext cx="4676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9C4A"/>
                </a:solidFill>
                <a:latin typeface="Britannic Bold" panose="020B0903060703020204" pitchFamily="34" charset="0"/>
              </a:rPr>
              <a:t>Drift - The ultimate solution!!!</a:t>
            </a:r>
            <a:endParaRPr lang="en-IN" sz="2000" dirty="0">
              <a:solidFill>
                <a:srgbClr val="009C4A"/>
              </a:solidFill>
              <a:latin typeface="Britannic Bold" panose="020B09030607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D5EDC4-5C62-503D-29C6-8A33A84D9597}"/>
              </a:ext>
            </a:extLst>
          </p:cNvPr>
          <p:cNvSpPr txBox="1"/>
          <p:nvPr/>
        </p:nvSpPr>
        <p:spPr>
          <a:xfrm>
            <a:off x="9651229" y="1925473"/>
            <a:ext cx="1917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9C4A"/>
                </a:solidFill>
                <a:latin typeface="Britannic Bold" panose="020B0903060703020204" pitchFamily="34" charset="0"/>
              </a:rPr>
              <a:t>Key Features</a:t>
            </a:r>
            <a:endParaRPr lang="en-IN" sz="2000" dirty="0">
              <a:solidFill>
                <a:srgbClr val="009C4A"/>
              </a:solidFill>
              <a:latin typeface="Britannic Bold" panose="020B09030607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6CA97-F36E-7908-2D73-7F23E76E9D3A}"/>
              </a:ext>
            </a:extLst>
          </p:cNvPr>
          <p:cNvSpPr txBox="1"/>
          <p:nvPr/>
        </p:nvSpPr>
        <p:spPr>
          <a:xfrm>
            <a:off x="308625" y="2433447"/>
            <a:ext cx="23566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Berlin Sans FB" panose="020E0602020502020306" pitchFamily="34" charset="0"/>
              </a:rPr>
              <a:t>•Information Overload: Students struggle to find the right resources, courses and opportunities.</a:t>
            </a:r>
            <a:br>
              <a:rPr lang="en-US" sz="1400" dirty="0">
                <a:solidFill>
                  <a:srgbClr val="002060"/>
                </a:solidFill>
                <a:latin typeface="Berlin Sans FB" panose="020E0602020502020306" pitchFamily="34" charset="0"/>
              </a:rPr>
            </a:br>
            <a:endParaRPr lang="en-US" sz="1400" dirty="0">
              <a:solidFill>
                <a:srgbClr val="002060"/>
              </a:solidFill>
              <a:latin typeface="Berlin Sans FB" panose="020E0602020502020306" pitchFamily="34" charset="0"/>
            </a:endParaRPr>
          </a:p>
          <a:p>
            <a:r>
              <a:rPr lang="en-US" sz="1400" dirty="0">
                <a:solidFill>
                  <a:srgbClr val="002060"/>
                </a:solidFill>
                <a:latin typeface="Berlin Sans FB" panose="020E0602020502020306" pitchFamily="34" charset="0"/>
              </a:rPr>
              <a:t>•Lack of Guidance: No personalized roadmap for learning and skill development.</a:t>
            </a:r>
            <a:br>
              <a:rPr lang="en-US" sz="1400" dirty="0">
                <a:solidFill>
                  <a:srgbClr val="002060"/>
                </a:solidFill>
                <a:latin typeface="Berlin Sans FB" panose="020E0602020502020306" pitchFamily="34" charset="0"/>
              </a:rPr>
            </a:br>
            <a:endParaRPr lang="en-US" sz="1400" dirty="0">
              <a:solidFill>
                <a:srgbClr val="002060"/>
              </a:solidFill>
              <a:latin typeface="Berlin Sans FB" panose="020E0602020502020306" pitchFamily="34" charset="0"/>
            </a:endParaRPr>
          </a:p>
          <a:p>
            <a:r>
              <a:rPr lang="en-US" sz="1400" dirty="0">
                <a:solidFill>
                  <a:srgbClr val="002060"/>
                </a:solidFill>
                <a:latin typeface="Berlin Sans FB" panose="020E0602020502020306" pitchFamily="34" charset="0"/>
              </a:rPr>
              <a:t>• Disconnected Opportunities: Internships, hackathons and collaborations are scattered.</a:t>
            </a:r>
            <a:br>
              <a:rPr lang="en-US" sz="1400" dirty="0">
                <a:solidFill>
                  <a:srgbClr val="002060"/>
                </a:solidFill>
                <a:latin typeface="Berlin Sans FB" panose="020E0602020502020306" pitchFamily="34" charset="0"/>
              </a:rPr>
            </a:br>
            <a:endParaRPr lang="en-US" sz="1400" dirty="0">
              <a:solidFill>
                <a:srgbClr val="002060"/>
              </a:solidFill>
              <a:latin typeface="Berlin Sans FB" panose="020E0602020502020306" pitchFamily="34" charset="0"/>
            </a:endParaRPr>
          </a:p>
          <a:p>
            <a:r>
              <a:rPr lang="en-US" sz="1400" dirty="0">
                <a:solidFill>
                  <a:srgbClr val="002060"/>
                </a:solidFill>
                <a:latin typeface="Berlin Sans FB" panose="020E0602020502020306" pitchFamily="34" charset="0"/>
              </a:rPr>
              <a:t>• Untracked Progress: Students can't easily track their learning. </a:t>
            </a:r>
            <a:endParaRPr lang="en-IN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C7D066-BFF3-C9CD-9D00-0F967D178317}"/>
              </a:ext>
            </a:extLst>
          </p:cNvPr>
          <p:cNvSpPr txBox="1"/>
          <p:nvPr/>
        </p:nvSpPr>
        <p:spPr>
          <a:xfrm>
            <a:off x="3255516" y="3773734"/>
            <a:ext cx="53400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erlin Sans FB" panose="020E0602020502020306" pitchFamily="34" charset="0"/>
              </a:rPr>
              <a:t>•Personalized Roadmaps: AI-based learning paths customized to goals.</a:t>
            </a:r>
          </a:p>
          <a:p>
            <a:r>
              <a:rPr lang="en-US" dirty="0">
                <a:solidFill>
                  <a:srgbClr val="002060"/>
                </a:solidFill>
                <a:latin typeface="Berlin Sans FB" panose="020E0602020502020306" pitchFamily="34" charset="0"/>
              </a:rPr>
              <a:t>•Curated Resources: Courses, articles, videos and practice sets.</a:t>
            </a:r>
          </a:p>
          <a:p>
            <a:r>
              <a:rPr lang="en-US" dirty="0">
                <a:solidFill>
                  <a:srgbClr val="002060"/>
                </a:solidFill>
                <a:latin typeface="Berlin Sans FB" panose="020E0602020502020306" pitchFamily="34" charset="0"/>
              </a:rPr>
              <a:t>• Opportunities Hub: Internships, hackathons and events in one place.</a:t>
            </a:r>
          </a:p>
          <a:p>
            <a:r>
              <a:rPr lang="en-US" dirty="0">
                <a:solidFill>
                  <a:srgbClr val="002060"/>
                </a:solidFill>
                <a:latin typeface="Berlin Sans FB" panose="020E0602020502020306" pitchFamily="34" charset="0"/>
              </a:rPr>
              <a:t>• Progress Tracking: Track skills, achievements and certificates.</a:t>
            </a:r>
          </a:p>
          <a:p>
            <a:r>
              <a:rPr lang="en-US" dirty="0">
                <a:solidFill>
                  <a:srgbClr val="002060"/>
                </a:solidFill>
                <a:latin typeface="Berlin Sans FB" panose="020E0602020502020306" pitchFamily="34" charset="0"/>
              </a:rPr>
              <a:t>• Community Connect: Connect with peers, mentors and experts.</a:t>
            </a:r>
            <a:endParaRPr lang="en-IN" dirty="0">
              <a:solidFill>
                <a:srgbClr val="002060"/>
              </a:solidFill>
              <a:latin typeface="Berlin Sans FB" panose="020E0602020502020306" pitchFamily="34" charset="0"/>
            </a:endParaRPr>
          </a:p>
        </p:txBody>
      </p:sp>
      <p:pic>
        <p:nvPicPr>
          <p:cNvPr id="33" name="Graphic 32" descr="Bar graph with upward trend with solid fill">
            <a:extLst>
              <a:ext uri="{FF2B5EF4-FFF2-40B4-BE49-F238E27FC236}">
                <a16:creationId xmlns:a16="http://schemas.microsoft.com/office/drawing/2014/main" id="{076037C8-6B25-F910-1DF3-AD2B1D1078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2855" y="2595764"/>
            <a:ext cx="393992" cy="393992"/>
          </a:xfrm>
          <a:prstGeom prst="rect">
            <a:avLst/>
          </a:prstGeom>
        </p:spPr>
      </p:pic>
      <p:pic>
        <p:nvPicPr>
          <p:cNvPr id="35" name="Graphic 34" descr="Body builder with solid fill">
            <a:extLst>
              <a:ext uri="{FF2B5EF4-FFF2-40B4-BE49-F238E27FC236}">
                <a16:creationId xmlns:a16="http://schemas.microsoft.com/office/drawing/2014/main" id="{DEF7CC10-9CD3-055F-CCE9-E2455AAC4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80413" y="3255081"/>
            <a:ext cx="465183" cy="465183"/>
          </a:xfrm>
          <a:prstGeom prst="rect">
            <a:avLst/>
          </a:prstGeom>
        </p:spPr>
      </p:pic>
      <p:pic>
        <p:nvPicPr>
          <p:cNvPr id="37" name="Graphic 36" descr="Books on shelf with solid fill">
            <a:extLst>
              <a:ext uri="{FF2B5EF4-FFF2-40B4-BE49-F238E27FC236}">
                <a16:creationId xmlns:a16="http://schemas.microsoft.com/office/drawing/2014/main" id="{0DE377B8-EAE7-1378-FA89-367436C0D1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0067" y="3988811"/>
            <a:ext cx="475805" cy="475805"/>
          </a:xfrm>
          <a:prstGeom prst="rect">
            <a:avLst/>
          </a:prstGeom>
        </p:spPr>
      </p:pic>
      <p:pic>
        <p:nvPicPr>
          <p:cNvPr id="39" name="Graphic 38" descr="Brain with solid fill">
            <a:extLst>
              <a:ext uri="{FF2B5EF4-FFF2-40B4-BE49-F238E27FC236}">
                <a16:creationId xmlns:a16="http://schemas.microsoft.com/office/drawing/2014/main" id="{DCA3D125-E1F4-BB1E-0127-055594AB58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16503" y="5201732"/>
            <a:ext cx="463458" cy="463458"/>
          </a:xfrm>
          <a:prstGeom prst="rect">
            <a:avLst/>
          </a:prstGeom>
        </p:spPr>
      </p:pic>
      <p:pic>
        <p:nvPicPr>
          <p:cNvPr id="41" name="Graphic 40" descr="Briefcase with solid fill">
            <a:extLst>
              <a:ext uri="{FF2B5EF4-FFF2-40B4-BE49-F238E27FC236}">
                <a16:creationId xmlns:a16="http://schemas.microsoft.com/office/drawing/2014/main" id="{45775A00-BC8D-760E-26CC-8D07B7F6F1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33947" y="4562899"/>
            <a:ext cx="463458" cy="46345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656C438-245F-AD86-1972-546B32A7AE44}"/>
              </a:ext>
            </a:extLst>
          </p:cNvPr>
          <p:cNvSpPr txBox="1"/>
          <p:nvPr/>
        </p:nvSpPr>
        <p:spPr>
          <a:xfrm>
            <a:off x="9845596" y="2595764"/>
            <a:ext cx="1697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Track and Grow</a:t>
            </a:r>
            <a:endParaRPr lang="en-IN" sz="16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AEF757-BFAC-B5CC-C5CF-60CC16E1D85A}"/>
              </a:ext>
            </a:extLst>
          </p:cNvPr>
          <p:cNvSpPr txBox="1"/>
          <p:nvPr/>
        </p:nvSpPr>
        <p:spPr>
          <a:xfrm>
            <a:off x="9962527" y="3214175"/>
            <a:ext cx="1294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Built for students</a:t>
            </a:r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C21F45-4FA7-A678-3C7E-CAB9B5092080}"/>
              </a:ext>
            </a:extLst>
          </p:cNvPr>
          <p:cNvSpPr txBox="1"/>
          <p:nvPr/>
        </p:nvSpPr>
        <p:spPr>
          <a:xfrm>
            <a:off x="9962527" y="4024300"/>
            <a:ext cx="12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All in one</a:t>
            </a:r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F78539-7C0E-7BA7-952D-5DBF3D423B27}"/>
              </a:ext>
            </a:extLst>
          </p:cNvPr>
          <p:cNvSpPr txBox="1"/>
          <p:nvPr/>
        </p:nvSpPr>
        <p:spPr>
          <a:xfrm>
            <a:off x="9985675" y="4516049"/>
            <a:ext cx="12486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002060"/>
                </a:solidFill>
                <a:latin typeface="Berlin Sans FB Demi" panose="020E0802020502020306" pitchFamily="34" charset="0"/>
              </a:rPr>
              <a:t>Stay ahead</a:t>
            </a:r>
            <a:endParaRPr lang="en-IN" sz="17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BC7BF0-1574-0C4C-D976-57763A614EB2}"/>
              </a:ext>
            </a:extLst>
          </p:cNvPr>
          <p:cNvSpPr txBox="1"/>
          <p:nvPr/>
        </p:nvSpPr>
        <p:spPr>
          <a:xfrm>
            <a:off x="9939773" y="5185984"/>
            <a:ext cx="1475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Smart and personalized</a:t>
            </a:r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49" name="Graphic 48" descr="Map with pin with solid fill">
            <a:extLst>
              <a:ext uri="{FF2B5EF4-FFF2-40B4-BE49-F238E27FC236}">
                <a16:creationId xmlns:a16="http://schemas.microsoft.com/office/drawing/2014/main" id="{48847D6B-D2BA-0AD4-71E0-533725DEF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2195" y="5833438"/>
            <a:ext cx="543677" cy="54367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93509BDF-44AE-BDEF-0B74-B7475392EF81}"/>
              </a:ext>
            </a:extLst>
          </p:cNvPr>
          <p:cNvSpPr txBox="1"/>
          <p:nvPr/>
        </p:nvSpPr>
        <p:spPr>
          <a:xfrm>
            <a:off x="9939773" y="5908003"/>
            <a:ext cx="175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Location enabled chances</a:t>
            </a:r>
            <a:endParaRPr lang="en-IN" sz="16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B1FE1980-CB63-A892-DFE6-F4EA5A5E9E2D}"/>
              </a:ext>
            </a:extLst>
          </p:cNvPr>
          <p:cNvSpPr/>
          <p:nvPr/>
        </p:nvSpPr>
        <p:spPr>
          <a:xfrm>
            <a:off x="-34412" y="2298164"/>
            <a:ext cx="4272116" cy="4543722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DE3BF2-C971-5019-A6A9-785E168CA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2962" y="-47625"/>
            <a:ext cx="2249850" cy="1589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99F60F-B5AC-4617-A4D9-5F3AEA33D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0" y="4478662"/>
            <a:ext cx="1540718" cy="15407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43F235-EF08-BF03-7B13-7A92ECA474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9450" y="757721"/>
            <a:ext cx="8034692" cy="70234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137844-6B5F-4C17-D151-143BD0E27A8C}"/>
              </a:ext>
            </a:extLst>
          </p:cNvPr>
          <p:cNvSpPr/>
          <p:nvPr/>
        </p:nvSpPr>
        <p:spPr>
          <a:xfrm>
            <a:off x="9051234" y="1558857"/>
            <a:ext cx="2978702" cy="32464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03B6CE-F7BA-E71F-714E-5B5593128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614" y="-59917"/>
            <a:ext cx="2273790" cy="1606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51F30C-2D09-05FF-6BA7-6041C73E3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9218" y="4615184"/>
            <a:ext cx="1540718" cy="1540718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A36350-7B85-4847-D343-F277FA645DA2}"/>
              </a:ext>
            </a:extLst>
          </p:cNvPr>
          <p:cNvSpPr/>
          <p:nvPr/>
        </p:nvSpPr>
        <p:spPr>
          <a:xfrm>
            <a:off x="609600" y="1546565"/>
            <a:ext cx="2392680" cy="448847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129B7D-0501-E0ED-7FFF-38CE48DFFEFD}"/>
              </a:ext>
            </a:extLst>
          </p:cNvPr>
          <p:cNvSpPr/>
          <p:nvPr/>
        </p:nvSpPr>
        <p:spPr>
          <a:xfrm>
            <a:off x="3266104" y="1558857"/>
            <a:ext cx="5521306" cy="407231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30D815-8425-93DB-3925-3B75C7C45AD8}"/>
              </a:ext>
            </a:extLst>
          </p:cNvPr>
          <p:cNvSpPr txBox="1"/>
          <p:nvPr/>
        </p:nvSpPr>
        <p:spPr>
          <a:xfrm>
            <a:off x="853440" y="1558857"/>
            <a:ext cx="1948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erlin Sans FB Demi" panose="020E0802020502020306" pitchFamily="34" charset="0"/>
              </a:rPr>
              <a:t>Feasibility</a:t>
            </a:r>
            <a:endParaRPr lang="en-IN" sz="28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0057D6-F969-226E-79F8-8CEC5F4E62E2}"/>
              </a:ext>
            </a:extLst>
          </p:cNvPr>
          <p:cNvSpPr txBox="1"/>
          <p:nvPr/>
        </p:nvSpPr>
        <p:spPr>
          <a:xfrm>
            <a:off x="5279635" y="1602019"/>
            <a:ext cx="2869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erlin Sans FB Demi" panose="020E0802020502020306" pitchFamily="34" charset="0"/>
              </a:rPr>
              <a:t>Viability</a:t>
            </a:r>
            <a:endParaRPr lang="en-IN" sz="28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21" name="Graphic 20" descr="Connections with solid fill">
            <a:extLst>
              <a:ext uri="{FF2B5EF4-FFF2-40B4-BE49-F238E27FC236}">
                <a16:creationId xmlns:a16="http://schemas.microsoft.com/office/drawing/2014/main" id="{6ADC3137-5725-3333-695E-94CFCC20FB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5800" y="5046254"/>
            <a:ext cx="1540718" cy="1540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6F4176-62C6-076C-A539-9CB05F29794F}"/>
              </a:ext>
            </a:extLst>
          </p:cNvPr>
          <p:cNvSpPr txBox="1"/>
          <p:nvPr/>
        </p:nvSpPr>
        <p:spPr>
          <a:xfrm>
            <a:off x="9565599" y="1709839"/>
            <a:ext cx="2002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erlin Sans FB Demi" panose="020E0802020502020306" pitchFamily="34" charset="0"/>
              </a:rPr>
              <a:t>Challenges</a:t>
            </a:r>
            <a:endParaRPr lang="en-IN" sz="28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F20A2-23E2-473E-0F0B-18B1FA610F10}"/>
              </a:ext>
            </a:extLst>
          </p:cNvPr>
          <p:cNvSpPr txBox="1"/>
          <p:nvPr/>
        </p:nvSpPr>
        <p:spPr>
          <a:xfrm>
            <a:off x="672037" y="2101933"/>
            <a:ext cx="23211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Frontend: HTML, CSS, JavaScript / React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Backend: Python + Flask/Fast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Database: MySQL / 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AI/ML: Skill-gap analysis &amp; student–opportunity matching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Maps: Google Maps / OpenStreetMap API for location-based opportunities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99800F-B9D9-0AF7-8C2C-68554ADD9367}"/>
              </a:ext>
            </a:extLst>
          </p:cNvPr>
          <p:cNvSpPr txBox="1"/>
          <p:nvPr/>
        </p:nvSpPr>
        <p:spPr>
          <a:xfrm>
            <a:off x="3414995" y="2244628"/>
            <a:ext cx="54148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Students: Find relevant internships, training and placement opportunities in one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Recruiters: Discover candidates based on skills, interests and location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Institutions: Track student skills, internships and placement progress.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Academicians: Connect students with industry projects, mentors and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Scalable: Can expand from individual institutions to universities and industries across India.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High Impact: Bridges the gap between education, skills, internships and employment.</a:t>
            </a:r>
            <a:endParaRPr lang="en-IN" sz="16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D9324C-8F43-AEFA-F15D-F08F480B4B6B}"/>
              </a:ext>
            </a:extLst>
          </p:cNvPr>
          <p:cNvSpPr txBox="1"/>
          <p:nvPr/>
        </p:nvSpPr>
        <p:spPr>
          <a:xfrm>
            <a:off x="9276159" y="2389239"/>
            <a:ext cx="258154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Skill–Opportunity Mismatch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Data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User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Matching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Privacy &amp;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Location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2060"/>
                </a:solidFill>
                <a:latin typeface="Berlin Sans FB Demi" panose="020E0802020502020306" pitchFamily="34" charset="0"/>
              </a:rPr>
              <a:t>User Adoption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29CB0F-14A3-A9CF-9E51-0A3C33913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1298" y="-10319"/>
            <a:ext cx="2146313" cy="1516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2285BB-B877-5E41-61D7-52D75C7C9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8699" y="4403321"/>
            <a:ext cx="1540718" cy="1540718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2EC81C-2590-BEDC-D202-3E195F221529}"/>
              </a:ext>
            </a:extLst>
          </p:cNvPr>
          <p:cNvSpPr/>
          <p:nvPr/>
        </p:nvSpPr>
        <p:spPr>
          <a:xfrm>
            <a:off x="975360" y="1437366"/>
            <a:ext cx="4511040" cy="461323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1EC508-37F4-AAA2-D520-F4AB6DD4E391}"/>
              </a:ext>
            </a:extLst>
          </p:cNvPr>
          <p:cNvSpPr/>
          <p:nvPr/>
        </p:nvSpPr>
        <p:spPr>
          <a:xfrm>
            <a:off x="6095999" y="1474558"/>
            <a:ext cx="4053840" cy="45073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58D605-2154-F36F-E867-BE8E8EEEEFEF}"/>
              </a:ext>
            </a:extLst>
          </p:cNvPr>
          <p:cNvSpPr/>
          <p:nvPr/>
        </p:nvSpPr>
        <p:spPr>
          <a:xfrm>
            <a:off x="0" y="6354760"/>
            <a:ext cx="12192000" cy="501739"/>
          </a:xfrm>
          <a:prstGeom prst="rect">
            <a:avLst/>
          </a:prstGeom>
          <a:solidFill>
            <a:schemeClr val="tx2"/>
          </a:solidFill>
          <a:ln>
            <a:solidFill>
              <a:srgbClr val="009C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74602E-F3FD-1A77-58BB-D7DD1D550133}"/>
              </a:ext>
            </a:extLst>
          </p:cNvPr>
          <p:cNvSpPr txBox="1"/>
          <p:nvPr/>
        </p:nvSpPr>
        <p:spPr>
          <a:xfrm>
            <a:off x="2117632" y="1772463"/>
            <a:ext cx="3246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Berlin Sans FB Demi" panose="020E0802020502020306" pitchFamily="34" charset="0"/>
              </a:rPr>
              <a:t>IMPACT</a:t>
            </a:r>
            <a:endParaRPr lang="en-IN" sz="32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6BBAD5-D411-5A6A-BCFB-015AD1E3FF77}"/>
              </a:ext>
            </a:extLst>
          </p:cNvPr>
          <p:cNvSpPr txBox="1"/>
          <p:nvPr/>
        </p:nvSpPr>
        <p:spPr>
          <a:xfrm>
            <a:off x="6936902" y="1713436"/>
            <a:ext cx="2843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Berlin Sans FB Demi" panose="020E0802020502020306" pitchFamily="34" charset="0"/>
              </a:rPr>
              <a:t>BENEFITS</a:t>
            </a:r>
            <a:endParaRPr lang="en-IN" sz="32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22" name="Graphic 21" descr="Cheers with solid fill">
            <a:extLst>
              <a:ext uri="{FF2B5EF4-FFF2-40B4-BE49-F238E27FC236}">
                <a16:creationId xmlns:a16="http://schemas.microsoft.com/office/drawing/2014/main" id="{5F8B0F1C-D434-E0D5-B4E7-4C4DD590B6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2127" y="1713435"/>
            <a:ext cx="584775" cy="584775"/>
          </a:xfrm>
          <a:prstGeom prst="rect">
            <a:avLst/>
          </a:prstGeom>
        </p:spPr>
      </p:pic>
      <p:pic>
        <p:nvPicPr>
          <p:cNvPr id="24" name="Graphic 23" descr="Business Growth with solid fill">
            <a:extLst>
              <a:ext uri="{FF2B5EF4-FFF2-40B4-BE49-F238E27FC236}">
                <a16:creationId xmlns:a16="http://schemas.microsoft.com/office/drawing/2014/main" id="{76485202-AB68-1CB4-C67C-416400EF9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9823" y="1667715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4D4CB87-A7EB-2CA7-8431-7A5553EB82DE}"/>
              </a:ext>
            </a:extLst>
          </p:cNvPr>
          <p:cNvSpPr txBox="1"/>
          <p:nvPr/>
        </p:nvSpPr>
        <p:spPr>
          <a:xfrm>
            <a:off x="6568440" y="2582115"/>
            <a:ext cx="30784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Social</a:t>
            </a:r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 — skill matters more than who you know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Economic</a:t>
            </a:r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 — local shops get help, students get real experience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Educational</a:t>
            </a:r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 — career prep feels like a game, not homework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Efficiency</a:t>
            </a:r>
            <a:r>
              <a:rPr lang="en-IN" dirty="0">
                <a:solidFill>
                  <a:srgbClr val="002060"/>
                </a:solidFill>
                <a:latin typeface="Berlin Sans FB Demi" panose="020E0802020502020306" pitchFamily="34" charset="0"/>
              </a:rPr>
              <a:t> — recruiters stop wasting time on mismatched resumes</a:t>
            </a:r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EC0DDB-F561-C50C-0BD3-11C4244BE658}"/>
              </a:ext>
            </a:extLst>
          </p:cNvPr>
          <p:cNvSpPr txBox="1"/>
          <p:nvPr/>
        </p:nvSpPr>
        <p:spPr>
          <a:xfrm>
            <a:off x="1371600" y="2834640"/>
            <a:ext cx="37947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Students get a roadmap instead of random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Easier for both students and recruiters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Combines multiple needs in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Berlin Sans FB Demi" panose="020E0802020502020306" pitchFamily="34" charset="0"/>
              </a:rPr>
              <a:t>Helps in focusing on growth of skills than the search for ”perfect” opportunity.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33698" y="-7916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94213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3"/>
              </a:rPr>
              <a:t>https://www.ayush.gov.in/</a:t>
            </a:r>
            <a:endParaRPr lang="en-US" sz="2800" dirty="0">
              <a:solidFill>
                <a:srgbClr val="002060"/>
              </a:solidFill>
              <a:latin typeface="Berlin Sans FB Demi" panose="020E0802020502020306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4"/>
              </a:rPr>
              <a:t>https://www.linkedin.com/jobs/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 Demi" panose="020E0802020502020306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5"/>
              </a:rPr>
              <a:t>https://internship.aicte-india.org/</a:t>
            </a:r>
            <a:endParaRPr lang="en-IN" sz="2800" b="1" dirty="0"/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6"/>
              </a:rPr>
              <a:t>https://internshala.com/</a:t>
            </a:r>
            <a:endParaRPr lang="en-IN" sz="2800" b="1" dirty="0"/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>
                <a:hlinkClick r:id="rId7"/>
              </a:rPr>
              <a:t>https://maps.google.com/</a:t>
            </a:r>
            <a:endParaRPr lang="en-IN" sz="2800" b="1" dirty="0"/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hlinkClick r:id="rId8"/>
              </a:rPr>
              <a:t>https://devfolio.co/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 Demi" panose="020E0802020502020306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6CCAEB-2143-6274-7EFB-66159A0B20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89740" y="0"/>
            <a:ext cx="2249850" cy="1589568"/>
          </a:xfrm>
          <a:prstGeom prst="rect">
            <a:avLst/>
          </a:prstGeom>
        </p:spPr>
      </p:pic>
      <p:sp>
        <p:nvSpPr>
          <p:cNvPr id="5" name="Right Triangle 4">
            <a:extLst>
              <a:ext uri="{FF2B5EF4-FFF2-40B4-BE49-F238E27FC236}">
                <a16:creationId xmlns:a16="http://schemas.microsoft.com/office/drawing/2014/main" id="{05260C4F-81F5-E2BE-069D-0543A76518E5}"/>
              </a:ext>
            </a:extLst>
          </p:cNvPr>
          <p:cNvSpPr/>
          <p:nvPr/>
        </p:nvSpPr>
        <p:spPr>
          <a:xfrm flipH="1">
            <a:off x="7341695" y="3465719"/>
            <a:ext cx="4850305" cy="3390782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AB1A62-9BDE-EB0A-1B3F-985CB6D58E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3285" y="1035822"/>
            <a:ext cx="6028715" cy="516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7819</TotalTime>
  <Words>510</Words>
  <Application>Microsoft Office PowerPoint</Application>
  <PresentationFormat>Widescreen</PresentationFormat>
  <Paragraphs>86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2" baseType="lpstr">
      <vt:lpstr>ＭＳ Ｐゴシック</vt:lpstr>
      <vt:lpstr>Algerian</vt:lpstr>
      <vt:lpstr>Arial</vt:lpstr>
      <vt:lpstr>Arial Black</vt:lpstr>
      <vt:lpstr>Bahnschrift SemiCondensed</vt:lpstr>
      <vt:lpstr>Berlin Sans FB</vt:lpstr>
      <vt:lpstr>Berlin Sans FB Demi</vt:lpstr>
      <vt:lpstr>Bernard MT Condensed</vt:lpstr>
      <vt:lpstr>Britannic Bold</vt:lpstr>
      <vt:lpstr>Calibri</vt:lpstr>
      <vt:lpstr>Franklin Gothic Demi</vt:lpstr>
      <vt:lpstr>Franklin Gothic Demi Cond</vt:lpstr>
      <vt:lpstr>Tahoma</vt:lpstr>
      <vt:lpstr>Times New Roman</vt:lpstr>
      <vt:lpstr>TradeGothic</vt:lpstr>
      <vt:lpstr>Office Theme</vt:lpstr>
      <vt:lpstr>SMART INDIA HACKATHON 2026</vt:lpstr>
      <vt:lpstr> Drift - "One platform. Every student's next step."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jahnavi karri</cp:lastModifiedBy>
  <cp:revision>167</cp:revision>
  <dcterms:created xsi:type="dcterms:W3CDTF">2013-12-12T18:46:50Z</dcterms:created>
  <dcterms:modified xsi:type="dcterms:W3CDTF">2026-08-30T12:41:26Z</dcterms:modified>
  <cp:category/>
</cp:coreProperties>
</file>